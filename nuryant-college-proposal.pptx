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9080" cy="109728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3" name="Shape 1"/>
          <p:cNvSpPr/>
          <p:nvPr/>
        </p:nvSpPr>
        <p:spPr>
          <a:xfrm>
            <a:off x="4069080" y="0"/>
            <a:ext cx="4069080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0"/>
            <a:ext cx="4050792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85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NURYANT</a:t>
            </a:r>
            <a:pPr indent="0" marL="0">
              <a:buNone/>
            </a:pPr>
            <a:r>
              <a:rPr lang="en-US" sz="3000" b="1" spc="200" kern="0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50392" y="1298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7E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ENGINEERING TRAINING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Campus,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Like a Software Company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12-week, fully hands-on industry programme where final-year students build,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and ship a banking-grade platform — as one corporate engineering team.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623560"/>
            <a:ext cx="10515600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806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Industry–Institute Partnership Proposal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1447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Muzammil Farook  ·  Founder, Nuryant  ·  contact@nuryant.com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PRESENTING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years engineering banking systems in Ireland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0C2340"/>
          </a:solidFill>
          <a:ln/>
        </p:spPr>
      </p:sp>
      <p:pic>
        <p:nvPicPr>
          <p:cNvPr id="5" name="Image 0" descr="/home/claude/deck/icons/europe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317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27889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800" dirty="0"/>
          </a:p>
        </p:txBody>
      </p:sp>
      <p:sp>
        <p:nvSpPr>
          <p:cNvPr id="7" name="Text 4"/>
          <p:cNvSpPr/>
          <p:nvPr/>
        </p:nvSpPr>
        <p:spPr>
          <a:xfrm>
            <a:off x="1234440" y="4114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building credit &amp; payments systems for one of Ireland's largest banks — Dublin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34440" y="5166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delivered engineering training programmes in Ireland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0" y="1965960"/>
            <a:ext cx="6309360" cy="1261872"/>
          </a:xfrm>
          <a:prstGeom prst="roundRect">
            <a:avLst>
              <a:gd name="adj" fmla="val 4348"/>
            </a:avLst>
          </a:prstGeom>
          <a:solidFill>
            <a:srgbClr val="EEF3F7"/>
          </a:solidFill>
          <a:ln/>
        </p:spPr>
      </p:sp>
      <p:pic>
        <p:nvPicPr>
          <p:cNvPr id="10" name="Image 1" descr="/home/claude/deck/icons/usertie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35000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3504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035040" y="236829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035040" y="2679192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Java engineering — the foundation years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0" y="3447288"/>
            <a:ext cx="6309360" cy="1261872"/>
          </a:xfrm>
          <a:prstGeom prst="roundRect">
            <a:avLst>
              <a:gd name="adj" fmla="val 4348"/>
            </a:avLst>
          </a:prstGeom>
          <a:solidFill>
            <a:srgbClr val="EEF3F7"/>
          </a:solidFill>
          <a:ln/>
        </p:spPr>
      </p:sp>
      <p:pic>
        <p:nvPicPr>
          <p:cNvPr id="15" name="Image 2" descr="/home/claude/deck/icons/building-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831336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35040" y="3611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035040" y="38496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NTT Data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035040" y="416052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 / Architect — European banking systems: microservices, Kafka, cloud, legacy modernisation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0" y="4928616"/>
            <a:ext cx="6309360" cy="1261872"/>
          </a:xfrm>
          <a:prstGeom prst="roundRect">
            <a:avLst>
              <a:gd name="adj" fmla="val 4348"/>
            </a:avLst>
          </a:prstGeom>
          <a:solidFill>
            <a:srgbClr val="EEF3F7"/>
          </a:solidFill>
          <a:ln/>
        </p:spPr>
      </p:sp>
      <p:pic>
        <p:nvPicPr>
          <p:cNvPr id="20" name="Image 3" descr="/home/claude/deck/icons/rocket-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5312664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35040" y="50932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6035040" y="53309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Nuryant — Founder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035040" y="5641848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European banking engineering standards to Indian engineering campuses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F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NURYANT  · 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Nuryant — training run by working engineers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coaching institute. A specialist firm founded on one belief: students learn engineering by shipping software with people who ship software for a living.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0C2340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834640"/>
            <a:ext cx="685800" cy="685800"/>
          </a:xfrm>
          <a:prstGeom prst="ellipse">
            <a:avLst/>
          </a:prstGeom>
          <a:solidFill>
            <a:srgbClr val="143154"/>
          </a:solidFill>
          <a:ln/>
        </p:spPr>
      </p:sp>
      <p:pic>
        <p:nvPicPr>
          <p:cNvPr id="7" name="Image 0" descr="/home/claude/deck/icons/userti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299923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749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trainers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43000" y="43891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working engineers drawn from Infosys, NTT Data, TCS and product firms — people who code, review and deploy every week.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16552" y="25146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0F766E"/>
          </a:solidFill>
          <a:ln/>
        </p:spPr>
      </p:sp>
      <p:sp>
        <p:nvSpPr>
          <p:cNvPr id="11" name="Shape 8"/>
          <p:cNvSpPr/>
          <p:nvPr/>
        </p:nvSpPr>
        <p:spPr>
          <a:xfrm>
            <a:off x="4736592" y="2834640"/>
            <a:ext cx="685800" cy="685800"/>
          </a:xfrm>
          <a:prstGeom prst="ellipse">
            <a:avLst/>
          </a:prstGeom>
          <a:solidFill>
            <a:srgbClr val="0B5B55"/>
          </a:solidFill>
          <a:ln/>
        </p:spPr>
      </p:sp>
      <p:pic>
        <p:nvPicPr>
          <p:cNvPr id="12" name="Image 1" descr="/home/claude/deck/icons/europ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29992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3749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banking DNA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36592" y="43891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9F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and standards led by 12+ years of Irish banking engineering — the patterns running in production in Europe today.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10144" y="25146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0C2340"/>
          </a:solidFill>
          <a:ln/>
        </p:spPr>
      </p:sp>
      <p:sp>
        <p:nvSpPr>
          <p:cNvPr id="16" name="Shape 12"/>
          <p:cNvSpPr/>
          <p:nvPr/>
        </p:nvSpPr>
        <p:spPr>
          <a:xfrm>
            <a:off x="8330184" y="2834640"/>
            <a:ext cx="685800" cy="685800"/>
          </a:xfrm>
          <a:prstGeom prst="ellipse">
            <a:avLst/>
          </a:prstGeom>
          <a:solidFill>
            <a:srgbClr val="143154"/>
          </a:solidFill>
          <a:ln/>
        </p:spPr>
      </p:sp>
      <p:pic>
        <p:nvPicPr>
          <p:cNvPr id="17" name="Image 2" descr="/home/claude/deck/icons/robo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99923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0184" y="3749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by design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330184" y="43891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work with AI pair-programming tools from day one — the working style companies now actively screen for.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22960" y="60807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trainer is vetted on one question: have you built and operated this in production?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F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NURYANT  · 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fresher hiring bar has moved. Training hasn't.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recruiters now screen for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4526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project they can open — not a certificate PDF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history that shows how the student actually works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 working with AI tools — without depending on them blindly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 to talk about systems: services, data, failures, trade-offs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0C234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typical campus training stops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514600"/>
            <a:ext cx="4526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and slides — students watch, rarely build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toy assignments — never teamwork at scale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exposure to Git workflow, code review, CI/CD or deployment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treated as cheating, instead of taught as a professional skill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colleges that close this gap first will own the placement story in their region.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F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NURYANT  · 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NURYANT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students. One software company.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batch is organised exactly like a corporate delivery organisation — every student holds a real role, with real responsibilities, on one shared product.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2587752" cy="2651760"/>
          </a:xfrm>
          <a:prstGeom prst="roundRect">
            <a:avLst>
              <a:gd name="adj" fmla="val 2827"/>
            </a:avLst>
          </a:prstGeom>
          <a:solidFill>
            <a:srgbClr val="0F766E"/>
          </a:solidFill>
          <a:ln/>
        </p:spPr>
      </p:sp>
      <p:pic>
        <p:nvPicPr>
          <p:cNvPr id="6" name="Image 0" descr="/home/claude/deck/icons/cod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060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30358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097280" y="37673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97280" y="405993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microservices, APIs &amp; UI — Java, Spring Boot, React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11296" y="2331720"/>
            <a:ext cx="2587752" cy="2651760"/>
          </a:xfrm>
          <a:prstGeom prst="roundRect">
            <a:avLst>
              <a:gd name="adj" fmla="val 2827"/>
            </a:avLst>
          </a:prstGeom>
          <a:solidFill>
            <a:srgbClr val="143154"/>
          </a:solidFill>
          <a:ln/>
        </p:spPr>
      </p:sp>
      <p:pic>
        <p:nvPicPr>
          <p:cNvPr id="11" name="Image 1" descr="/home/claude/deck/icons/vial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26060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67328" y="30358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3785616" y="37673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ENGINEERS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785616" y="405993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strategy, automation suites, quality gates on every release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99632" y="2331720"/>
            <a:ext cx="2587752" cy="2651760"/>
          </a:xfrm>
          <a:prstGeom prst="roundRect">
            <a:avLst>
              <a:gd name="adj" fmla="val 2827"/>
            </a:avLst>
          </a:prstGeom>
          <a:solidFill>
            <a:srgbClr val="143154"/>
          </a:solidFill>
          <a:ln/>
        </p:spPr>
      </p:sp>
      <p:pic>
        <p:nvPicPr>
          <p:cNvPr id="16" name="Image 2" descr="/home/claude/deck/icons/cloud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6060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30358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400" dirty="0"/>
          </a:p>
        </p:txBody>
      </p:sp>
      <p:sp>
        <p:nvSpPr>
          <p:cNvPr id="18" name="Text 13"/>
          <p:cNvSpPr/>
          <p:nvPr/>
        </p:nvSpPr>
        <p:spPr>
          <a:xfrm>
            <a:off x="6473952" y="37673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ENGINEERS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73952" y="405993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CI/CD pipelines, cloud deployment &amp; monitoring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887968" y="2331720"/>
            <a:ext cx="2587752" cy="2651760"/>
          </a:xfrm>
          <a:prstGeom prst="roundRect">
            <a:avLst>
              <a:gd name="adj" fmla="val 2827"/>
            </a:avLst>
          </a:prstGeom>
          <a:solidFill>
            <a:srgbClr val="0F766E"/>
          </a:solidFill>
          <a:ln/>
        </p:spPr>
      </p:sp>
      <p:pic>
        <p:nvPicPr>
          <p:cNvPr id="21" name="Image 3" descr="/home/claude/deck/icons/sitemap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88" y="26060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30358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400" dirty="0"/>
          </a:p>
        </p:txBody>
      </p:sp>
      <p:sp>
        <p:nvSpPr>
          <p:cNvPr id="23" name="Text 17"/>
          <p:cNvSpPr/>
          <p:nvPr/>
        </p:nvSpPr>
        <p:spPr>
          <a:xfrm>
            <a:off x="9162288" y="37673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&amp; SCRUM ROLES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162288" y="405993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2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sprint planning, demos — the voice of the business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22960" y="5257800"/>
            <a:ext cx="10543032" cy="1051560"/>
          </a:xfrm>
          <a:prstGeom prst="roundRect">
            <a:avLst>
              <a:gd name="adj" fmla="val 6957"/>
            </a:avLst>
          </a:prstGeom>
          <a:solidFill>
            <a:srgbClr val="0A1B31"/>
          </a:solidFill>
          <a:ln w="12700">
            <a:solidFill>
              <a:srgbClr val="2C4A70"/>
            </a:solidFill>
            <a:prstDash val="solid"/>
          </a:ln>
        </p:spPr>
      </p:sp>
      <p:pic>
        <p:nvPicPr>
          <p:cNvPr id="26" name="Image 4" descr="/home/claude/deck/icons/users-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53212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544068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Organised into 10 cross-functional squads of 20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each squad has its own developers, QA, DevOps and BA, running two-week sprints on the same product. Exactly how Infosys, TCS and NTT Data run delivery teams.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sizes flex to batch strength &amp; student aptitude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E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NURYANT  · 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THEY 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LendFlow — a banking-grade loan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97480" y="1691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90088" y="1691640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0088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CHECK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64608" y="1691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57216" y="1691640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7216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31736" y="1691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24344" y="1691640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24344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CREDIT MEMO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98864" y="16916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91472" y="1691640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1472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· LIVE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2660904"/>
            <a:ext cx="566928" cy="566928"/>
          </a:xfrm>
          <a:prstGeom prst="ellipse">
            <a:avLst/>
          </a:prstGeom>
          <a:solidFill>
            <a:srgbClr val="EEF3F7"/>
          </a:solidFill>
          <a:ln/>
        </p:spPr>
      </p:sp>
      <p:pic>
        <p:nvPicPr>
          <p:cNvPr id="19" name="Image 0" descr="/home/claude/deck/icons/cogs-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98064"/>
            <a:ext cx="292608" cy="29260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00200" y="260604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microservices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600200" y="291693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&amp; KYC, loan applications, credit decisioning, notifications on Kafka — plus a React dashboard for loan officers.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22960" y="3685032"/>
            <a:ext cx="566928" cy="566928"/>
          </a:xfrm>
          <a:prstGeom prst="ellipse">
            <a:avLst/>
          </a:prstGeom>
          <a:solidFill>
            <a:srgbClr val="EEF3F7"/>
          </a:solidFill>
          <a:ln/>
        </p:spPr>
      </p:sp>
      <p:pic>
        <p:nvPicPr>
          <p:cNvPr id="23" name="Image 1" descr="/home/claude/deck/icons/robot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822192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600200" y="363016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 AI layer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600200" y="394106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LLM-powered document extraction, AI-drafted credit memos with human approval, and a grounded applicant chatbot.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822960" y="4709160"/>
            <a:ext cx="566928" cy="566928"/>
          </a:xfrm>
          <a:prstGeom prst="ellipse">
            <a:avLst/>
          </a:prstGeom>
          <a:solidFill>
            <a:srgbClr val="EEF3F7"/>
          </a:solidFill>
          <a:ln/>
        </p:spPr>
      </p:sp>
      <p:pic>
        <p:nvPicPr>
          <p:cNvPr id="27" name="Image 2" descr="/home/claude/deck/icons/shield-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846320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600200" y="4654296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Bank-grade engineering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1600200" y="496519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security, role-based access, automated tests, Docker, CI/CD — deployed to the cloud with a public URL.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822960" y="5760720"/>
            <a:ext cx="10543032" cy="685800"/>
          </a:xfrm>
          <a:prstGeom prst="roundRect">
            <a:avLst>
              <a:gd name="adj" fmla="val 10667"/>
            </a:avLst>
          </a:prstGeom>
          <a:solidFill>
            <a:srgbClr val="0C2340"/>
          </a:solidFill>
          <a:ln/>
        </p:spPr>
      </p:sp>
      <p:sp>
        <p:nvSpPr>
          <p:cNvPr id="31" name="Text 26"/>
          <p:cNvSpPr/>
          <p:nvPr/>
        </p:nvSpPr>
        <p:spPr>
          <a:xfrm>
            <a:off x="1143000" y="57607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student graduates with this platform live on the internet </a:t>
            </a:r>
            <a:pPr indent="0" marL="0">
              <a:buNone/>
            </a:pPr>
            <a:r>
              <a:rPr lang="en-US" sz="130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URL recruiters can open, backed by a professional GitHub profile.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F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NURYANT  · 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weeks, five phases, sprint by sprint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029968" cy="3383280"/>
          </a:xfrm>
          <a:prstGeom prst="roundRect">
            <a:avLst>
              <a:gd name="adj" fmla="val 3604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19456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94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1–2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269748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51560" y="3429000"/>
            <a:ext cx="1618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Java, Git &amp; PR workflow, Spring Boot core — first service live in week two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53512" y="1920240"/>
            <a:ext cx="2029968" cy="3383280"/>
          </a:xfrm>
          <a:prstGeom prst="roundRect">
            <a:avLst>
              <a:gd name="adj" fmla="val 3604"/>
            </a:avLst>
          </a:prstGeom>
          <a:solidFill>
            <a:srgbClr val="EE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3182112" y="219456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0C2340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2194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3–5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82112" y="269748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engineering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182112" y="3429000"/>
            <a:ext cx="1618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 done right, microservices, resilience patterns, Kafka events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84064" y="1920240"/>
            <a:ext cx="2029968" cy="3383280"/>
          </a:xfrm>
          <a:prstGeom prst="roundRect">
            <a:avLst>
              <a:gd name="adj" fmla="val 3604"/>
            </a:avLst>
          </a:prstGeom>
          <a:solidFill>
            <a:srgbClr val="EE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312664" y="219456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5312664" y="2194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6–8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12664" y="269748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QA &amp; AI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312664" y="3429000"/>
            <a:ext cx="1618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security, professional testing, and building the LLM features into LendFlow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14616" y="1920240"/>
            <a:ext cx="2029968" cy="3383280"/>
          </a:xfrm>
          <a:prstGeom prst="roundRect">
            <a:avLst>
              <a:gd name="adj" fmla="val 3604"/>
            </a:avLst>
          </a:prstGeom>
          <a:solidFill>
            <a:srgbClr val="EEF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443216" y="219456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0C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7443216" y="2194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9–10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43216" y="269748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443216" y="3429000"/>
            <a:ext cx="1618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dashboard, Docker, CI/CD pipeline — deployed with a public URL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45168" y="1920240"/>
            <a:ext cx="2029968" cy="3383280"/>
          </a:xfrm>
          <a:prstGeom prst="roundRect">
            <a:avLst>
              <a:gd name="adj" fmla="val 3604"/>
            </a:avLst>
          </a:prstGeom>
          <a:solidFill>
            <a:srgbClr val="0C2340"/>
          </a:solidFill>
          <a:ln/>
        </p:spPr>
      </p:sp>
      <p:sp>
        <p:nvSpPr>
          <p:cNvPr id="25" name="Shape 23"/>
          <p:cNvSpPr/>
          <p:nvPr/>
        </p:nvSpPr>
        <p:spPr>
          <a:xfrm>
            <a:off x="9573768" y="219456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0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9573768" y="2194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11–12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573768" y="269748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launch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573768" y="3429000"/>
            <a:ext cx="1618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interviews, system design, resume &amp; GitHub polish — then Demo Day</a:t>
            </a:r>
            <a:endParaRPr lang="en-US" sz="1100" dirty="0"/>
          </a:p>
        </p:txBody>
      </p:sp>
      <p:pic>
        <p:nvPicPr>
          <p:cNvPr id="29" name="Image 0" descr="/home/claude/deck/icons/calendar-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15000"/>
            <a:ext cx="310896" cy="31089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34440" y="568756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Weekends &amp; evenings — zero clash with academics</a:t>
            </a:r>
            <a:endParaRPr lang="en-US" sz="1100" dirty="0"/>
          </a:p>
        </p:txBody>
      </p:sp>
      <p:pic>
        <p:nvPicPr>
          <p:cNvPr id="31" name="Image 1" descr="/home/claude/deck/icons/clipboard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5715000"/>
            <a:ext cx="310896" cy="31089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846320" y="568756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sprint ends in a working demo — no demo, no progression</a:t>
            </a:r>
            <a:endParaRPr lang="en-US" sz="1100" dirty="0"/>
          </a:p>
        </p:txBody>
      </p:sp>
      <p:pic>
        <p:nvPicPr>
          <p:cNvPr id="33" name="Image 2" descr="/home/claude/deck/icons/check-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5715000"/>
            <a:ext cx="310896" cy="31089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458200" y="568756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pull request reviewed — by trainers and by peers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F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NURYANT  · 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HANDS-ON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lectures. A working software company.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587752" cy="3017520"/>
          </a:xfrm>
          <a:prstGeom prst="roundRect">
            <a:avLst>
              <a:gd name="adj" fmla="val 2827"/>
            </a:avLst>
          </a:prstGeom>
          <a:solidFill>
            <a:srgbClr val="0C2340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194560"/>
            <a:ext cx="640080" cy="640080"/>
          </a:xfrm>
          <a:prstGeom prst="ellipse">
            <a:avLst/>
          </a:prstGeom>
          <a:solidFill>
            <a:srgbClr val="143154"/>
          </a:solidFill>
          <a:ln/>
        </p:spPr>
      </p:sp>
      <p:pic>
        <p:nvPicPr>
          <p:cNvPr id="6" name="Image 0" descr="/home/claude/deck/icons/users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3500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333756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squad plans its two-week sprint with its BA — scope, stories, owners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11296" y="1920240"/>
            <a:ext cx="2587752" cy="3017520"/>
          </a:xfrm>
          <a:prstGeom prst="roundRect">
            <a:avLst>
              <a:gd name="adj" fmla="val 2827"/>
            </a:avLst>
          </a:prstGeom>
          <a:solidFill>
            <a:srgbClr val="0F766E"/>
          </a:solidFill>
          <a:ln/>
        </p:spPr>
      </p:sp>
      <p:sp>
        <p:nvSpPr>
          <p:cNvPr id="10" name="Shape 7"/>
          <p:cNvSpPr/>
          <p:nvPr/>
        </p:nvSpPr>
        <p:spPr>
          <a:xfrm>
            <a:off x="3785616" y="2194560"/>
            <a:ext cx="640080" cy="640080"/>
          </a:xfrm>
          <a:prstGeom prst="ellipse">
            <a:avLst/>
          </a:prstGeom>
          <a:solidFill>
            <a:srgbClr val="0B5B55"/>
          </a:solidFill>
          <a:ln/>
        </p:spPr>
      </p:sp>
      <p:pic>
        <p:nvPicPr>
          <p:cNvPr id="11" name="Image 1" descr="/home/claude/deck/icons/laptop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4" y="23500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85616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days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85616" y="333756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9F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pair with AI tools; QA writes automation; DevOps keeps pipelines green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99632" y="1920240"/>
            <a:ext cx="2587752" cy="3017520"/>
          </a:xfrm>
          <a:prstGeom prst="roundRect">
            <a:avLst>
              <a:gd name="adj" fmla="val 2827"/>
            </a:avLst>
          </a:prstGeom>
          <a:solidFill>
            <a:srgbClr val="0C2340"/>
          </a:solidFill>
          <a:ln/>
        </p:spPr>
      </p:sp>
      <p:sp>
        <p:nvSpPr>
          <p:cNvPr id="15" name="Shape 11"/>
          <p:cNvSpPr/>
          <p:nvPr/>
        </p:nvSpPr>
        <p:spPr>
          <a:xfrm>
            <a:off x="6473952" y="2194560"/>
            <a:ext cx="640080" cy="640080"/>
          </a:xfrm>
          <a:prstGeom prst="ellipse">
            <a:avLst/>
          </a:prstGeom>
          <a:solidFill>
            <a:srgbClr val="143154"/>
          </a:solidFill>
          <a:ln/>
        </p:spPr>
      </p:sp>
      <p:pic>
        <p:nvPicPr>
          <p:cNvPr id="16" name="Image 2" descr="/home/claude/deck/icons/clipboard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500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73952" y="333756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line goes through pull-request review — trainer plus peer, like a real team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887968" y="1920240"/>
            <a:ext cx="2587752" cy="3017520"/>
          </a:xfrm>
          <a:prstGeom prst="roundRect">
            <a:avLst>
              <a:gd name="adj" fmla="val 2827"/>
            </a:avLst>
          </a:prstGeom>
          <a:solidFill>
            <a:srgbClr val="0F766E"/>
          </a:solidFill>
          <a:ln/>
        </p:spPr>
      </p:sp>
      <p:sp>
        <p:nvSpPr>
          <p:cNvPr id="20" name="Shape 15"/>
          <p:cNvSpPr/>
          <p:nvPr/>
        </p:nvSpPr>
        <p:spPr>
          <a:xfrm>
            <a:off x="9162288" y="2194560"/>
            <a:ext cx="640080" cy="640080"/>
          </a:xfrm>
          <a:prstGeom prst="ellipse">
            <a:avLst/>
          </a:prstGeom>
          <a:solidFill>
            <a:srgbClr val="0B5B55"/>
          </a:solidFill>
          <a:ln/>
        </p:spPr>
      </p:sp>
      <p:pic>
        <p:nvPicPr>
          <p:cNvPr id="21" name="Image 3" descr="/home/claude/deck/icons/rocket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23500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62288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demo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62288" y="333756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9F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 demo working software to trainers acting as business stakeholders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22960" y="5257800"/>
            <a:ext cx="10543032" cy="1051560"/>
          </a:xfrm>
          <a:prstGeom prst="roundRect">
            <a:avLst>
              <a:gd name="adj" fmla="val 6957"/>
            </a:avLst>
          </a:prstGeom>
          <a:solidFill>
            <a:srgbClr val="EEF3F7"/>
          </a:solidFill>
          <a:ln/>
        </p:spPr>
      </p:sp>
      <p:pic>
        <p:nvPicPr>
          <p:cNvPr id="25" name="Image 4" descr="/home/claude/deck/icons/robot-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53212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828800" y="544068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throughout: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code with AI pair-programmers, run AI-assisted reviews and test generation — and learn the judgement to catch what AI gets wrong. That judgement is the skill companies pay for.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F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NURYANT  · 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students and your institution gain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0C2340"/>
          </a:solidFill>
          <a:ln/>
        </p:spPr>
      </p:sp>
      <p:pic>
        <p:nvPicPr>
          <p:cNvPr id="5" name="Image 0" descr="/home/claude/deck/icons/gradcap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76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student graduates with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3000" y="2743200"/>
            <a:ext cx="4526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live, deployed loan platform — public URL, not a screenshot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professional GitHub profile with CI/CD and clean history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corporate role on the resume: Developer, QA, DevOps or BA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recorded mock interviews with written feedback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earned certificate — attendance plus every sprint milestone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EEF3F7"/>
          </a:solidFill>
          <a:ln/>
        </p:spPr>
      </p:sp>
      <p:pic>
        <p:nvPicPr>
          <p:cNvPr id="9" name="Image 1" descr="/home/claude/deck/icons/award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031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2176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institution gains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83680" y="2743200"/>
            <a:ext cx="4526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visible placement edge — students interview with shipped work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Industry–institute collaboration on record for NAAC / NBA &amp; AICTE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Demo Day hosted on your campus — recruiters can be invited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infrastructure burden — a hall, laptops and Wi-Fi is all it takes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differentiated admissions story for next year's intake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9FB2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NURYANT  ·  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PROPOSAL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founding-partner pilot with your college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0A1B31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0116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Nuryant delivers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2423160"/>
            <a:ext cx="4526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12-week programme for up to 200 final-year students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trainers, curriculum, project infrastructure &amp; cloud tooling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reviews, mock interviews and the campus Demo Day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0A1B31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0116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college provides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423160"/>
            <a:ext cx="4526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hall or lab with Wi-Fi on weekends — students bring laptops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coordinator from the placement cell / department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support so sessions never clash with academics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commercial models — agreed together in this pilot: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394960"/>
            <a:ext cx="3392424" cy="914400"/>
          </a:xfrm>
          <a:prstGeom prst="roundRect">
            <a:avLst>
              <a:gd name="adj" fmla="val 8000"/>
            </a:avLst>
          </a:prstGeom>
          <a:solidFill>
            <a:srgbClr val="143154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55321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CAMPUS-SPONSORED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51560" y="57881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 funds the batch as a value-added programme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98264" y="5394960"/>
            <a:ext cx="3392424" cy="914400"/>
          </a:xfrm>
          <a:prstGeom prst="roundRect">
            <a:avLst>
              <a:gd name="adj" fmla="val 8000"/>
            </a:avLst>
          </a:prstGeom>
          <a:solidFill>
            <a:srgbClr val="143154"/>
          </a:solidFill>
          <a:ln/>
        </p:spPr>
      </p:sp>
      <p:sp>
        <p:nvSpPr>
          <p:cNvPr id="15" name="Text 13"/>
          <p:cNvSpPr/>
          <p:nvPr/>
        </p:nvSpPr>
        <p:spPr>
          <a:xfrm>
            <a:off x="4626864" y="55321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26864" y="57881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facilitates; students enrol at a preferential campus rate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73568" y="5394960"/>
            <a:ext cx="3392424" cy="914400"/>
          </a:xfrm>
          <a:prstGeom prst="roundRect">
            <a:avLst>
              <a:gd name="adj" fmla="val 8000"/>
            </a:avLst>
          </a:prstGeom>
          <a:solidFill>
            <a:srgbClr val="143154"/>
          </a:solidFill>
          <a:ln/>
        </p:spPr>
      </p:sp>
      <p:sp>
        <p:nvSpPr>
          <p:cNvPr id="18" name="Text 16"/>
          <p:cNvSpPr/>
          <p:nvPr/>
        </p:nvSpPr>
        <p:spPr>
          <a:xfrm>
            <a:off x="8202168" y="55321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02168" y="57881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model — institute anchors, students co-contribute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E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NURYANT  ·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9080" cy="109728"/>
          </a:xfrm>
          <a:prstGeom prst="rect">
            <a:avLst/>
          </a:prstGeom>
          <a:solidFill>
            <a:srgbClr val="F0A93B"/>
          </a:solidFill>
          <a:ln/>
        </p:spPr>
      </p:sp>
      <p:sp>
        <p:nvSpPr>
          <p:cNvPr id="3" name="Shape 1"/>
          <p:cNvSpPr/>
          <p:nvPr/>
        </p:nvSpPr>
        <p:spPr>
          <a:xfrm>
            <a:off x="4069080" y="0"/>
            <a:ext cx="4069080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0"/>
            <a:ext cx="4050792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 to a running batch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3392424" cy="2468880"/>
          </a:xfrm>
          <a:prstGeom prst="roundRect">
            <a:avLst>
              <a:gd name="adj" fmla="val 2963"/>
            </a:avLst>
          </a:prstGeom>
          <a:solidFill>
            <a:srgbClr val="0A1B31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377440"/>
            <a:ext cx="594360" cy="594360"/>
          </a:xfrm>
          <a:prstGeom prst="ellipse">
            <a:avLst/>
          </a:prstGeom>
          <a:solidFill>
            <a:srgbClr val="F0A93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session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520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60-minute session for your final-year students &amp; faculty — we show LendFlow live and answer everything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98264" y="2103120"/>
            <a:ext cx="3392424" cy="2468880"/>
          </a:xfrm>
          <a:prstGeom prst="roundRect">
            <a:avLst>
              <a:gd name="adj" fmla="val 2963"/>
            </a:avLst>
          </a:prstGeom>
          <a:solidFill>
            <a:srgbClr val="0A1B31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2377440"/>
            <a:ext cx="594360" cy="594360"/>
          </a:xfrm>
          <a:prstGeom prst="ellipse">
            <a:avLst/>
          </a:prstGeom>
          <a:solidFill>
            <a:srgbClr val="F0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672584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72584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MoU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72584" y="3520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one-page understanding covering schedule, roles, commercial model and the Demo Day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73568" y="2103120"/>
            <a:ext cx="3392424" cy="2468880"/>
          </a:xfrm>
          <a:prstGeom prst="roundRect">
            <a:avLst>
              <a:gd name="adj" fmla="val 2963"/>
            </a:avLst>
          </a:prstGeom>
          <a:solidFill>
            <a:srgbClr val="0A1B31"/>
          </a:solidFill>
          <a:ln w="12700">
            <a:solidFill>
              <a:srgbClr val="2C4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2377440"/>
            <a:ext cx="594360" cy="594360"/>
          </a:xfrm>
          <a:prstGeom prst="ellipse">
            <a:avLst/>
          </a:prstGeom>
          <a:solidFill>
            <a:srgbClr val="F0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8247888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47888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kicks off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7888" y="3520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 formed in week one — first working software demo by the end of week two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5120640"/>
            <a:ext cx="10515600" cy="0"/>
          </a:xfrm>
          <a:prstGeom prst="line">
            <a:avLst/>
          </a:prstGeom>
          <a:noFill/>
          <a:ln w="12700">
            <a:solidFill>
              <a:srgbClr val="2C4A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440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NURYANT</a:t>
            </a:r>
            <a:pPr indent="0" marL="0">
              <a:buNone/>
            </a:pPr>
            <a:r>
              <a:rPr lang="en-US" sz="2400" b="1" spc="200" kern="0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2296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Muzammil Farook  ·  Founder  ·  Tech Lead / Architect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62362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contact@nuryant.com   ·   nuryant.com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95360" y="5760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2026-07-15T14:23:41Z</dcterms:created>
  <dcterms:modified xsi:type="dcterms:W3CDTF">2026-07-15T14:23:41Z</dcterms:modified>
</cp:coreProperties>
</file>